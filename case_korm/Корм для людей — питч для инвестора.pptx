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image" Target="../media/image-4-4.jpg"/><Relationship Id="rId5" Type="http://schemas.openxmlformats.org/officeDocument/2006/relationships/image" Target="../media/image-4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77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ПИТЧ ДЛЯ ИНВЕСТОРА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43000"/>
            <a:ext cx="6035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5800" b="1" spc="-1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Корм</a:t>
            </a:r>
            <a:endParaRPr lang="en-US" sz="58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5800" b="1" spc="-1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людей</a:t>
            </a:r>
            <a:endParaRPr lang="en-US" sz="5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45643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spc="-40" kern="0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Когда не до готовки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16052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6D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Разрабатываем удобную еду для учёбы, работы и поездок. Пять форматов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6D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одной идеи: иметь под рукой запасной вариант, когда обычный обед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6D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складывается.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5349240"/>
            <a:ext cx="6035040" cy="731520"/>
          </a:xfrm>
          <a:prstGeom prst="roundRect">
            <a:avLst>
              <a:gd name="adj" fmla="val 20000"/>
            </a:avLst>
          </a:prstGeom>
          <a:solidFill>
            <a:srgbClr val="26262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5528" y="553212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8A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на стадии концепции. На изображениях — концепты продукта и упаковки,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8A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не подтверждённая спецификация.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022592" y="1078992"/>
            <a:ext cx="4608576" cy="460857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CD4C0"/>
            </a:solidFill>
            <a:prstDash val="solid"/>
          </a:ln>
        </p:spPr>
      </p:sp>
      <p:pic>
        <p:nvPicPr>
          <p:cNvPr id="9" name="Image 0" descr="/home/user/itmo-uvb-trainer/case_korm/deck_img/granul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143000"/>
            <a:ext cx="4480560" cy="44805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66928" y="643737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Корм для людей · проект на стадии концепции · числовые ориентиры — рабочие гипотезы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45952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029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DE7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772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32"/>
              </a:lnSpc>
              <a:buNone/>
            </a:pPr>
            <a:r>
              <a:rPr lang="en-US" sz="3600" b="1" spc="-40" kern="0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Расписание плотное.</a:t>
            </a:r>
            <a:endParaRPr lang="en-US" sz="3600" dirty="0"/>
          </a:p>
          <a:p>
            <a:pPr indent="0" marL="0">
              <a:lnSpc>
                <a:spcPts val="4032"/>
              </a:lnSpc>
              <a:buNone/>
            </a:pPr>
            <a:r>
              <a:rPr lang="en-US" sz="3600" b="1" spc="-40" kern="0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Поесть всё равно хочется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14884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Пары, дедлайны, созвоны и дорога не всегда оставляют место для обычного обеда. Столовая закрыта, доставка едет час, а до дома ещё далеко.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3017520"/>
            <a:ext cx="3429000" cy="1691640"/>
          </a:xfrm>
          <a:prstGeom prst="roundRect">
            <a:avLst>
              <a:gd name="adj" fmla="val 8649"/>
            </a:avLst>
          </a:prstGeom>
          <a:solidFill>
            <a:srgbClr val="EBE5D4"/>
          </a:solidFill>
          <a:ln w="12700">
            <a:solidFill>
              <a:srgbClr val="DCD4C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2735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DE7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МЕЖДУ ПАРАМИ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478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рюкзаке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9776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Окно в сорок минут, очередь в столовой длиннее окна.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70248" y="3017520"/>
            <a:ext cx="3429000" cy="1691640"/>
          </a:xfrm>
          <a:prstGeom prst="roundRect">
            <a:avLst>
              <a:gd name="adj" fmla="val 8649"/>
            </a:avLst>
          </a:prstGeom>
          <a:solidFill>
            <a:srgbClr val="EBE5D4"/>
          </a:solidFill>
          <a:ln w="12700">
            <a:solidFill>
              <a:srgbClr val="DCD4C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32735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DE7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РАБОЧИЙ ДЕНЬ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35478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ящике стола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39776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Созвон переполз на обед, а доставка приедет через час.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73568" y="3017520"/>
            <a:ext cx="3429000" cy="1691640"/>
          </a:xfrm>
          <a:prstGeom prst="roundRect">
            <a:avLst>
              <a:gd name="adj" fmla="val 8649"/>
            </a:avLst>
          </a:prstGeom>
          <a:solidFill>
            <a:srgbClr val="EBE5D4"/>
          </a:solidFill>
          <a:ln w="12700">
            <a:solidFill>
              <a:srgbClr val="DCD4C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0" y="32735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DE7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ДОРОГА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35478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сумке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39776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Поезд, пересадка, чужой город — готовить негде.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4983480"/>
            <a:ext cx="11027664" cy="1051560"/>
          </a:xfrm>
          <a:prstGeom prst="roundRect">
            <a:avLst>
              <a:gd name="adj" fmla="val 13913"/>
            </a:avLst>
          </a:prstGeom>
          <a:solidFill>
            <a:srgbClr val="FFD60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32688" y="523036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19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«Мы не заменяем удовольствие от еды — мы хотим заменить пропущенный обед»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643737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Корм для людей · проект на стадии концепции · числовые ориентиры — рабочие гипотезы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045952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029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DE7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772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32"/>
              </a:lnSpc>
              <a:buNone/>
            </a:pPr>
            <a:r>
              <a:rPr lang="en-US" sz="3600" b="1" spc="-40" kern="0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Запасной вариант еды,</a:t>
            </a:r>
            <a:endParaRPr lang="en-US" sz="3600" dirty="0"/>
          </a:p>
          <a:p>
            <a:pPr indent="0" marL="0">
              <a:lnSpc>
                <a:spcPts val="4032"/>
              </a:lnSpc>
              <a:buNone/>
            </a:pPr>
            <a:r>
              <a:rPr lang="en-US" sz="3600" b="1" spc="-40" kern="0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не замена рациона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66928" y="2340864"/>
            <a:ext cx="384048" cy="384048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240487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2860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65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Съел сразу или быстро подготовил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670048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форматов ест прямо из упаковки, часть разводится водой или заваривается кипятком.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3547872"/>
            <a:ext cx="384048" cy="384048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361188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349300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65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Лежит и ждёт своего момента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877056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Кладёшь в рюкзак, ящик стола или сумку заранее и не думаешь о нём до нужного дня.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4754880"/>
            <a:ext cx="384048" cy="384048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481888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470001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65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 под ситуацию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5084064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Где-то есть чайник, где-то только десять минут и руки — поэтому форматов пять, а не один.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580644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позиционируем продукт как детское, лечебное или спортивное специализированное питание и не обещаем замену всего рациона.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88352" y="1353312"/>
            <a:ext cx="4242816" cy="4242816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DCD4C0"/>
            </a:solidFill>
            <a:prstDash val="solid"/>
          </a:ln>
        </p:spPr>
      </p:sp>
      <p:pic>
        <p:nvPicPr>
          <p:cNvPr id="18" name="Image 0" descr="/home/user/itmo-uvb-trainer/case_korm/deck_img/noodl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1417320"/>
            <a:ext cx="4114800" cy="411480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566928" y="643737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Корм для людей · проект на стадии концепции · числовые ориентиры — рабочие гипотезы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1045952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029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DE7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77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32"/>
              </a:lnSpc>
              <a:buNone/>
            </a:pPr>
            <a:r>
              <a:rPr lang="en-US" sz="3600" b="1" spc="-40" kern="0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идея. Пять форматов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00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Различаем форматы по способу употребления — это первое, что видит покупатель.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2084832"/>
            <a:ext cx="2048256" cy="2048256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DCD4C0"/>
            </a:solidFill>
            <a:prstDash val="solid"/>
          </a:ln>
        </p:spPr>
      </p:sp>
      <p:pic>
        <p:nvPicPr>
          <p:cNvPr id="6" name="Image 0" descr="/home/user/itmo-uvb-trainer/case_korm/deck_img/granul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148840"/>
            <a:ext cx="1920240" cy="19202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" y="41605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Гранулы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4480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Открыл и ешь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66928" y="48463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52633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92861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ПРИГОТОВЛЕНИЯ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820924" y="2084832"/>
            <a:ext cx="2048256" cy="2048256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DCD4C0"/>
            </a:solidFill>
            <a:prstDash val="solid"/>
          </a:ln>
        </p:spPr>
      </p:sp>
      <p:pic>
        <p:nvPicPr>
          <p:cNvPr id="12" name="Image 1" descr="/home/user/itmo-uvb-trainer/case_korm/deck_img/snack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4932" y="2148840"/>
            <a:ext cx="1920240" cy="19202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793492" y="41605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Снеки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2793492" y="4480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Хрусти между делами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2793492" y="48463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526333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2793492" y="492861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ПРИГОТОВЛЕНИЯ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5047488" y="2084832"/>
            <a:ext cx="2048256" cy="2048256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DCD4C0"/>
            </a:solidFill>
            <a:prstDash val="solid"/>
          </a:ln>
        </p:spPr>
      </p:sp>
      <p:pic>
        <p:nvPicPr>
          <p:cNvPr id="18" name="Image 2" descr="/home/user/itmo-uvb-trainer/case_korm/deck_img/cube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1496" y="2148840"/>
            <a:ext cx="1920240" cy="19202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020056" y="41605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Кубики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5020056" y="4480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Еда в кубе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020056" y="48463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526333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5020056" y="492861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ПРИГОТОВЛЕНИЯ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7274052" y="2084832"/>
            <a:ext cx="2048256" cy="2048256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DCD4C0"/>
            </a:solidFill>
            <a:prstDash val="solid"/>
          </a:ln>
        </p:spPr>
      </p:sp>
      <p:pic>
        <p:nvPicPr>
          <p:cNvPr id="24" name="Image 3" descr="/home/user/itmo-uvb-trainer/case_korm/deck_img/powder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8060" y="2148840"/>
            <a:ext cx="1920240" cy="192024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246620" y="41605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Смесь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7246620" y="4480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Смешай и выпей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7246620" y="48463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8A7400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7246620" y="492861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НУЖНА ВОДА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9500616" y="2084832"/>
            <a:ext cx="2048256" cy="2048256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DCD4C0"/>
            </a:solidFill>
            <a:prstDash val="solid"/>
          </a:ln>
        </p:spPr>
      </p:sp>
      <p:pic>
        <p:nvPicPr>
          <p:cNvPr id="30" name="Image 4" descr="/home/user/itmo-uvb-trainer/case_korm/deck_img/noodles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4624" y="2148840"/>
            <a:ext cx="1920240" cy="192024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473184" y="41605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Лапша</a:t>
            </a:r>
            <a:endParaRPr lang="en-US" sz="1600" dirty="0"/>
          </a:p>
        </p:txBody>
      </p:sp>
      <p:sp>
        <p:nvSpPr>
          <p:cNvPr id="32" name="Text 25"/>
          <p:cNvSpPr txBox="1"/>
          <p:nvPr/>
        </p:nvSpPr>
        <p:spPr>
          <a:xfrm>
            <a:off x="9473184" y="4480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Добавь горячего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9473184" y="48463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DE702D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9473184" y="492861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НУЖЕН КИПЯТОК</a:t>
            </a:r>
            <a:endParaRPr lang="en-US" sz="850" dirty="0"/>
          </a:p>
        </p:txBody>
      </p:sp>
      <p:sp>
        <p:nvSpPr>
          <p:cNvPr id="35" name="Shape 28"/>
          <p:cNvSpPr/>
          <p:nvPr/>
        </p:nvSpPr>
        <p:spPr>
          <a:xfrm>
            <a:off x="566928" y="5394960"/>
            <a:ext cx="11027664" cy="685800"/>
          </a:xfrm>
          <a:prstGeom prst="roundRect">
            <a:avLst>
              <a:gd name="adj" fmla="val 21333"/>
            </a:avLst>
          </a:prstGeom>
          <a:solidFill>
            <a:srgbClr val="EBE5D4"/>
          </a:solidFill>
          <a:ln w="12700">
            <a:solidFill>
              <a:srgbClr val="DCD4C0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841248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Пять форматов — концепции для проверки интереса, а не обязательство выпустить всё сразу. Формат первой партии выбираем после исследования спроса и разработки рецептуры.</a:t>
            </a:r>
            <a:endParaRPr lang="en-US" sz="1150" dirty="0"/>
          </a:p>
        </p:txBody>
      </p:sp>
      <p:sp>
        <p:nvSpPr>
          <p:cNvPr id="37" name="Text 30"/>
          <p:cNvSpPr txBox="1"/>
          <p:nvPr/>
        </p:nvSpPr>
        <p:spPr>
          <a:xfrm>
            <a:off x="566928" y="643737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Корм для людей · проект на стадии концепции · числовые ориентиры — рабочие гипотезы</a:t>
            </a:r>
            <a:endParaRPr lang="en-US" sz="900" dirty="0"/>
          </a:p>
        </p:txBody>
      </p:sp>
      <p:sp>
        <p:nvSpPr>
          <p:cNvPr id="38" name="Text 31"/>
          <p:cNvSpPr txBox="1"/>
          <p:nvPr/>
        </p:nvSpPr>
        <p:spPr>
          <a:xfrm>
            <a:off x="11045952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029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DE7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АУДИТОРИЯ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77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32"/>
              </a:lnSpc>
              <a:buNone/>
            </a:pPr>
            <a:r>
              <a:rPr lang="en-US" sz="3600" b="1" spc="-40" kern="0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ест и кто платит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94960" cy="301752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D4C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86968" y="20574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26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1 · ПЛАТИТ ЗА СЕБЯ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235915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Студенты и молодые специалисты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86968" y="315468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Плотное расписание: пары, работа, удалёнка, дорога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Готовят редко и не всегда там, где оказались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Держат запас в рюкзаке или ящике стола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99632" y="1783080"/>
            <a:ext cx="5394960" cy="301752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D4C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19672" y="20574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DE7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2 · ПОКУПАЕТ ДЛЯ ДРУГИХ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519672" y="235915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Компании и коворкинги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19672" y="315468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Организация покупает — сотрудник и резидент используют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принимают офис-менеджер, HR, администратор, владелец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Интересен дополнительный вариант еды, а не замена кухни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4983480"/>
            <a:ext cx="11027664" cy="1051560"/>
          </a:xfrm>
          <a:prstGeom prst="roundRect">
            <a:avLst>
              <a:gd name="adj" fmla="val 13913"/>
            </a:avLst>
          </a:prstGeom>
          <a:solidFill>
            <a:srgbClr val="EBE5D4"/>
          </a:solidFill>
          <a:ln w="12700">
            <a:solidFill>
              <a:srgbClr val="DCD4C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86968" y="5230368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 рынка считаем на этапе проверки спроса: неподтверждённых оценок в этот дек не ставим. Сейчас измеряем выбор формата, заявки и качество интереса — и не выдаём это за подтверждённый спрос.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643737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Корм для людей · проект на стадии концепции · числовые ориентиры — рабочие гипотезы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045952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029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DE7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УСТРОЕНО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32"/>
              </a:lnSpc>
              <a:buNone/>
            </a:pPr>
            <a:r>
              <a:rPr lang="en-US" sz="3600" b="1" spc="-40" kern="0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Свой бренд, контрактное производство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00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 завод на старте не планируется: капитал идёт в рецептуру, первые партии и проверку спроса.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2103120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12700">
            <a:solidFill>
              <a:srgbClr val="DCD4C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248716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DE7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7614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3"/>
              </a:lnSpc>
              <a:buNone/>
            </a:pPr>
            <a:r>
              <a:rPr lang="en-US" sz="155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Рецептура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3182112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Пищевой технолог, состав, вкус и форма подачи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93492" y="2286000"/>
            <a:ext cx="2103120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12700">
            <a:solidFill>
              <a:srgbClr val="DCD4C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94660" y="248716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DE7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2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2994660" y="27614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3"/>
              </a:lnSpc>
              <a:buNone/>
            </a:pPr>
            <a:r>
              <a:rPr lang="en-US" sz="155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Испытания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2994660" y="3182112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Лаборатория, безопасность, документы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0056" y="2286000"/>
            <a:ext cx="2103120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12700">
            <a:solidFill>
              <a:srgbClr val="DCD4C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21224" y="248716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DE7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3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221224" y="27614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3"/>
              </a:lnSpc>
              <a:buNone/>
            </a:pPr>
            <a:r>
              <a:rPr lang="en-US" sz="155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Производство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5221224" y="3182112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Контрактный изготовитель, упаковка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46620" y="2286000"/>
            <a:ext cx="2103120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12700">
            <a:solidFill>
              <a:srgbClr val="DCD4C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47788" y="248716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DE7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4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447788" y="27614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3"/>
              </a:lnSpc>
              <a:buNone/>
            </a:pPr>
            <a:r>
              <a:rPr lang="en-US" sz="155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Каналы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7447788" y="3182112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Сайт, сообщества, кампусы, коворкинги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473184" y="2286000"/>
            <a:ext cx="2103120" cy="1783080"/>
          </a:xfrm>
          <a:prstGeom prst="roundRect">
            <a:avLst>
              <a:gd name="adj" fmla="val 8205"/>
            </a:avLst>
          </a:prstGeom>
          <a:solidFill>
            <a:srgbClr val="FFD600"/>
          </a:solidFill>
          <a:ln w="12700">
            <a:solidFill>
              <a:srgbClr val="DCD4C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74352" y="248716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5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9674352" y="27614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3"/>
              </a:lnSpc>
              <a:buNone/>
            </a:pPr>
            <a:r>
              <a:rPr lang="en-US" sz="155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Покупатель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9674352" y="3182112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F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Обратная связь, повторная покупка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4343400"/>
            <a:ext cx="5394960" cy="1417320"/>
          </a:xfrm>
          <a:prstGeom prst="roundRect">
            <a:avLst>
              <a:gd name="adj" fmla="val 10323"/>
            </a:avLst>
          </a:prstGeom>
          <a:solidFill>
            <a:srgbClr val="EBE5D4"/>
          </a:solidFill>
          <a:ln w="12700">
            <a:solidFill>
              <a:srgbClr val="DCD4C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1248" y="45537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партнёры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41248" y="4901184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Технолог, производитель, лаборатория, поставщики упаковки, логистика, площадки для пилотов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199632" y="4343400"/>
            <a:ext cx="5394960" cy="1417320"/>
          </a:xfrm>
          <a:prstGeom prst="roundRect">
            <a:avLst>
              <a:gd name="adj" fmla="val 10323"/>
            </a:avLst>
          </a:prstGeom>
          <a:solidFill>
            <a:srgbClr val="EBE5D4"/>
          </a:solidFill>
          <a:ln w="12700">
            <a:solidFill>
              <a:srgbClr val="DCD4C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73952" y="45537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ресурсы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473952" y="4901184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Рецептура после разработки, бренд, команда, договорённости с производством, сообщество первых пользователей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643737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Корм для людей · проект на стадии концепции · числовые ориентиры — рабочие гипотезы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045952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029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DE7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БИЗНЕС-МОДЕЛЬ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77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32"/>
              </a:lnSpc>
              <a:buNone/>
            </a:pPr>
            <a:r>
              <a:rPr lang="en-US" sz="3600" b="1" spc="-40" kern="0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чего собирается проект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2679192" cy="2514600"/>
          </a:xfrm>
          <a:prstGeom prst="roundRect">
            <a:avLst>
              <a:gd name="adj" fmla="val 5818"/>
            </a:avLst>
          </a:prstGeom>
          <a:solidFill>
            <a:srgbClr val="FFD600"/>
          </a:solidFill>
          <a:ln w="12700">
            <a:solidFill>
              <a:srgbClr val="DCD4C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5528" y="1938528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Ценность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95528" y="2331720"/>
            <a:ext cx="22219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5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Запасной вариант еды под ситуацию</a:t>
            </a:r>
            <a:endParaRPr lang="en-US" sz="1100" dirty="0"/>
          </a:p>
          <a:p>
            <a:pPr marL="342900" indent="-342900">
              <a:lnSpc>
                <a:spcPts val="145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формата: есть сразу, вода или кипяток</a:t>
            </a:r>
            <a:endParaRPr lang="en-US" sz="1100" dirty="0"/>
          </a:p>
          <a:p>
            <a:pPr marL="342900" indent="-342900">
              <a:lnSpc>
                <a:spcPts val="145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Понятная информация о продукте после разработки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64992" y="1737360"/>
            <a:ext cx="2679192" cy="251460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2700">
            <a:solidFill>
              <a:srgbClr val="DCD4C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93592" y="1938528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Процессы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593592" y="2331720"/>
            <a:ext cx="22219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5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спроса</a:t>
            </a:r>
            <a:endParaRPr lang="en-US" sz="1100" dirty="0"/>
          </a:p>
          <a:p>
            <a:pPr marL="342900" indent="-342900">
              <a:lnSpc>
                <a:spcPts val="145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и испытания</a:t>
            </a:r>
            <a:endParaRPr lang="en-US" sz="1100" dirty="0"/>
          </a:p>
          <a:p>
            <a:pPr marL="342900" indent="-342900">
              <a:lnSpc>
                <a:spcPts val="145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Производство и упаковка</a:t>
            </a:r>
            <a:endParaRPr lang="en-US" sz="1100" dirty="0"/>
          </a:p>
          <a:p>
            <a:pPr marL="342900" indent="-342900">
              <a:lnSpc>
                <a:spcPts val="145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Продажи, доставка, обратная связь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63056" y="1737360"/>
            <a:ext cx="2679192" cy="251460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2700">
            <a:solidFill>
              <a:srgbClr val="DCD4C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91656" y="1938528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Каналы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391656" y="2331720"/>
            <a:ext cx="22219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5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Собственный сайт</a:t>
            </a:r>
            <a:endParaRPr lang="en-US" sz="1100" dirty="0"/>
          </a:p>
          <a:p>
            <a:pPr marL="342900" indent="-342900">
              <a:lnSpc>
                <a:spcPts val="145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Сообщества и кампусы</a:t>
            </a:r>
            <a:endParaRPr lang="en-US" sz="1100" dirty="0"/>
          </a:p>
          <a:p>
            <a:pPr marL="342900" indent="-342900">
              <a:lnSpc>
                <a:spcPts val="145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Коворкинги и офисы</a:t>
            </a:r>
            <a:endParaRPr lang="en-US" sz="1100" dirty="0"/>
          </a:p>
          <a:p>
            <a:pPr marL="342900" indent="-342900">
              <a:lnSpc>
                <a:spcPts val="145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Позже — розница, маркетплейсы, вендинг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61120" y="1737360"/>
            <a:ext cx="2679192" cy="251460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2700">
            <a:solidFill>
              <a:srgbClr val="DCD4C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89720" y="1938528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Клиенты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189720" y="2331720"/>
            <a:ext cx="22219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5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Частные покупатели</a:t>
            </a:r>
            <a:endParaRPr lang="en-US" sz="1100" dirty="0"/>
          </a:p>
          <a:p>
            <a:pPr marL="342900" indent="-342900">
              <a:lnSpc>
                <a:spcPts val="145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Организации: офисы и коворкинги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4480560"/>
            <a:ext cx="5394960" cy="1554480"/>
          </a:xfrm>
          <a:prstGeom prst="roundRect">
            <a:avLst>
              <a:gd name="adj" fmla="val 9412"/>
            </a:avLst>
          </a:prstGeom>
          <a:solidFill>
            <a:srgbClr val="EBE5D4"/>
          </a:solidFill>
          <a:ln w="12700">
            <a:solidFill>
              <a:srgbClr val="DCD4C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468172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Расходы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502920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и испытания · производство и упаковка · хранение и логистика · привлечение покупателей · команда и сервисы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99632" y="4480560"/>
            <a:ext cx="5394960" cy="1554480"/>
          </a:xfrm>
          <a:prstGeom prst="roundRect">
            <a:avLst>
              <a:gd name="adj" fmla="val 9412"/>
            </a:avLst>
          </a:prstGeom>
          <a:solidFill>
            <a:srgbClr val="EBE5D4"/>
          </a:solidFill>
          <a:ln w="12700">
            <a:solidFill>
              <a:srgbClr val="DCD4C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73952" y="468172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Доходы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73952" y="502920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Продажа продукта частным покупателям и организациям. Остальные модели подключаем только после подтверждения повторного спроса.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643737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Корм для людей · проект на стадии концепции · числовые ориентиры — рабочие гипотезы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045952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029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DE7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ДЕНЬГИ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772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32"/>
              </a:lnSpc>
              <a:buNone/>
            </a:pPr>
            <a:r>
              <a:rPr lang="en-US" sz="3600" b="1" spc="-40" kern="0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Чем зарабатываем сейчас</a:t>
            </a:r>
            <a:endParaRPr lang="en-US" sz="3600" dirty="0"/>
          </a:p>
          <a:p>
            <a:pPr indent="0" marL="0">
              <a:lnSpc>
                <a:spcPts val="4032"/>
              </a:lnSpc>
              <a:buNone/>
            </a:pPr>
            <a:r>
              <a:rPr lang="en-US" sz="3600" b="1" spc="-40" kern="0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чем — потом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66928" y="2286000"/>
            <a:ext cx="5394960" cy="3200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D4C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86968" y="2542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26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СТАРТЕ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288036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Прямые продажи отдельных порций и наборов конечным покупателям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Поставки партий в офисы и коворкинги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86968" y="44348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то, ради чего работает первая версия сайта: интерес частных покупателей и обращения организаций.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99632" y="2286000"/>
            <a:ext cx="5394960" cy="3200400"/>
          </a:xfrm>
          <a:prstGeom prst="roundRect">
            <a:avLst>
              <a:gd name="adj" fmla="val 4571"/>
            </a:avLst>
          </a:prstGeom>
          <a:solidFill>
            <a:srgbClr val="EBE5D4"/>
          </a:solidFill>
          <a:ln w="12700">
            <a:solidFill>
              <a:srgbClr val="DCD4C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19672" y="2542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DE7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ПОДТВЕРЖДЕНИЯ ПОВТОРНОГО СПРОСА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519672" y="288036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Регулярная доставка по подписке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 для магазинов и операторов вендинга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Брендированные партии и выпуск под брендом заказчика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Лицензирование технологии — дальняя возможность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5669280"/>
            <a:ext cx="11027664" cy="658368"/>
          </a:xfrm>
          <a:prstGeom prst="roundRect">
            <a:avLst>
              <a:gd name="adj" fmla="val 22222"/>
            </a:avLst>
          </a:prstGeom>
          <a:solidFill>
            <a:srgbClr val="FFD6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86968" y="58521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одна из этих моделей сейчас не работает как услуга: это план, а не запущенные направления.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643737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Корм для людей · проект на стадии концепции · числовые ориентиры — рабочие гипотезы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045952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029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DE7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КОНКУРЕНТНОЕ ПОЛЕ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772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32"/>
              </a:lnSpc>
              <a:buNone/>
            </a:pPr>
            <a:r>
              <a:rPr lang="en-US" sz="3600" b="1" spc="-40" kern="0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Аналоги есть. Мы занимаем</a:t>
            </a:r>
            <a:endParaRPr lang="en-US" sz="3600" dirty="0"/>
          </a:p>
          <a:p>
            <a:pPr indent="0" marL="0">
              <a:lnSpc>
                <a:spcPts val="4032"/>
              </a:lnSpc>
              <a:buNone/>
            </a:pPr>
            <a:r>
              <a:rPr lang="en-US" sz="3600" b="1" spc="-40" kern="0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соседнюю полку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66928" y="2240280"/>
            <a:ext cx="5394960" cy="1051560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 w="12700">
            <a:solidFill>
              <a:srgbClr val="DCD4C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24231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45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Доставка и готовая еда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743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Дороже и дольше, требует связи, времени и ожидания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99632" y="2240280"/>
            <a:ext cx="5394960" cy="1051560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 w="12700">
            <a:solidFill>
              <a:srgbClr val="DCD4C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73952" y="24231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45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Батончики и снеки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73952" y="2743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Перекус, редко воспринимается как замена пропущенного обеда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3474720"/>
            <a:ext cx="5394960" cy="1051560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 w="12700">
            <a:solidFill>
              <a:srgbClr val="DCD4C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36576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45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Порошковые рационы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3977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Нишевое восприятие, один формат на все ситуации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99632" y="3474720"/>
            <a:ext cx="5394960" cy="1051560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 w="12700">
            <a:solidFill>
              <a:srgbClr val="DCD4C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73952" y="36576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45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Столовая и вендинг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473952" y="3977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Привязка к месту и расписанию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4846320"/>
            <a:ext cx="11027664" cy="1234440"/>
          </a:xfrm>
          <a:prstGeom prst="roundRect">
            <a:avLst>
              <a:gd name="adj" fmla="val 11852"/>
            </a:avLst>
          </a:prstGeom>
          <a:solidFill>
            <a:srgbClr val="FFD6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86968" y="5029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Наше место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86968" y="53492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формата под ситуацию + честное позиционирование «запасной вариант, а не замена рациона» + запоминающееся имя. Мы не заявляем, что лучше альтернатив или что у проекта нет аналогов.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643737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Корм для людей · проект на стадии концепции · числовые ориентиры — рабочие гипотезы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045952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029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DE7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ЧЕСТНЫЙ СТАТУС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77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32"/>
              </a:lnSpc>
              <a:buNone/>
            </a:pPr>
            <a:r>
              <a:rPr lang="en-US" sz="3600" b="1" spc="-40" kern="0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уже есть и чего пока нет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00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Этот слайд — главный фильтр доверия: всё, что ниже справа, ещё не проверено.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5394960" cy="356616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D4C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86968" y="23774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26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86968" y="2724912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Идея и позиционирование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Бизнес-модель и описание аудитории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Пять продуктовых концепций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Визуальные концепты упаковки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 лендинга для сбора интереса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99632" y="2103120"/>
            <a:ext cx="5394960" cy="3566160"/>
          </a:xfrm>
          <a:prstGeom prst="roundRect">
            <a:avLst>
              <a:gd name="adj" fmla="val 4103"/>
            </a:avLst>
          </a:prstGeom>
          <a:solidFill>
            <a:srgbClr val="EBE5D4"/>
          </a:solidFill>
          <a:ln w="12700">
            <a:solidFill>
              <a:srgbClr val="DCD4C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19672" y="23774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DE7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 НЕТ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519672" y="2724912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Рецептуры, состава и пищевой ценности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Данных об аллергенах и сроке годности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Договорённости с производством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Себестоимости и отпускной цены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 и результатов дегустаций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Поэтому мы просим деньги не «на запуск бренда», а на проверку конкретных гипотез — по шагам.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643737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Корм для людей · проект на стадии концепции · числовые ориентиры — рабочие гипотезы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045952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029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DE7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772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32"/>
              </a:lnSpc>
              <a:buNone/>
            </a:pPr>
            <a:r>
              <a:rPr lang="en-US" sz="3600" b="1" spc="-40" kern="0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Сначала проверим идею.</a:t>
            </a:r>
            <a:endParaRPr lang="en-US" sz="3600" dirty="0"/>
          </a:p>
          <a:p>
            <a:pPr indent="0" marL="0">
              <a:lnSpc>
                <a:spcPts val="4032"/>
              </a:lnSpc>
              <a:buNone/>
            </a:pPr>
            <a:r>
              <a:rPr lang="en-US" sz="3600" b="1" spc="-40" kern="0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Потом запустим продукт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66928" y="2240280"/>
            <a:ext cx="2103120" cy="2148840"/>
          </a:xfrm>
          <a:prstGeom prst="roundRect">
            <a:avLst>
              <a:gd name="adj" fmla="val 6957"/>
            </a:avLst>
          </a:prstGeom>
          <a:solidFill>
            <a:srgbClr val="FFD600"/>
          </a:solidFill>
          <a:ln w="12700">
            <a:solidFill>
              <a:srgbClr val="DCD4C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244144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1 · СЕЙЧАС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272491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Интерес покупателей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34747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F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форматы выбирают и кто готов пробовать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93492" y="2240280"/>
            <a:ext cx="2103120" cy="214884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D4C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94660" y="244144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DE7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2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2994660" y="272491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рецептуры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2994660" y="34747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Технолог, состав, вкус, форма подачи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0056" y="2240280"/>
            <a:ext cx="2103120" cy="214884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D4C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21224" y="244144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DE7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3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221224" y="272491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Испытания и производство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5221224" y="34747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Лаборатория, документы, контрактный изготовитель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46620" y="2240280"/>
            <a:ext cx="2103120" cy="214884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D4C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47788" y="244144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DE7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4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7447788" y="272491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Тестирование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7447788" y="34747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Пробные партии и обратная связь первых людей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473184" y="2240280"/>
            <a:ext cx="2103120" cy="214884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D4C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74352" y="244144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DE7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5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9674352" y="272491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о запуске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9674352" y="34747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Выбираем формат первой партии — или возвращаемся к рецептуре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4663440"/>
            <a:ext cx="11027664" cy="1371600"/>
          </a:xfrm>
          <a:prstGeom prst="roundRect">
            <a:avLst>
              <a:gd name="adj" fmla="val 10667"/>
            </a:avLst>
          </a:prstGeom>
          <a:solidFill>
            <a:srgbClr val="EBE5D4"/>
          </a:solidFill>
          <a:ln w="12700">
            <a:solidFill>
              <a:srgbClr val="DCD4C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86968" y="4864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 в этом плане намеренно нет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86968" y="5193792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один шаг не отмечен как пройденный: это порядок работы, а не отчёт о готовности. Ориентир «4–6 месяцев до небольшого пилота», который звучал в обсуждении, — рабочая гипотеза, а не календарное обещание. Сроки появятся после первого шага.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643737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Корм для людей · проект на стадии концепции · числовые ориентиры — рабочие гипотезы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045952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D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486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6868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spc="-200" kern="0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500 000 ₽</a:t>
            </a:r>
            <a:endParaRPr lang="en-US" sz="7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21284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2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первый шаг — проверку спроса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7432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 деньги заходят траншами по потребности: следующий транш выдаётся только под достигнутый результат предыдущего.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3794760"/>
            <a:ext cx="6035040" cy="841248"/>
          </a:xfrm>
          <a:prstGeom prst="roundRect">
            <a:avLst>
              <a:gd name="adj" fmla="val 17391"/>
            </a:avLst>
          </a:prstGeom>
          <a:solidFill>
            <a:srgbClr val="FFE5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9136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 ограничен траншем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17880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A4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подтвердилась гипотеза — следующий транш просто не выдаётся. В риске размер одного чека, а не вся сумма.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4754880"/>
            <a:ext cx="6035040" cy="841248"/>
          </a:xfrm>
          <a:prstGeom prst="roundRect">
            <a:avLst>
              <a:gd name="adj" fmla="val 17391"/>
            </a:avLst>
          </a:prstGeom>
          <a:solidFill>
            <a:srgbClr val="FFE55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48737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Деньги не лежат без дела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13892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A4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транш привязан к конкретной работе: исследование, рецептура, испытания, партия.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5715000"/>
            <a:ext cx="6035040" cy="841248"/>
          </a:xfrm>
          <a:prstGeom prst="roundRect">
            <a:avLst>
              <a:gd name="adj" fmla="val 17391"/>
            </a:avLst>
          </a:prstGeom>
          <a:solidFill>
            <a:srgbClr val="FFE55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58338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Общий лимит обсуждается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609904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A4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Потолок финансирования фиксируем в сделке. Суммы шагов 2–4 уточняются после первого шага.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159752" y="1170432"/>
            <a:ext cx="4471416" cy="4471416"/>
          </a:xfrm>
          <a:prstGeom prst="roundRect">
            <a:avLst>
              <a:gd name="adj" fmla="val 3681"/>
            </a:avLst>
          </a:prstGeom>
          <a:solidFill>
            <a:srgbClr val="FFFFFF"/>
          </a:solidFill>
          <a:ln w="12700">
            <a:solidFill>
              <a:srgbClr val="DCD4C0"/>
            </a:solidFill>
            <a:prstDash val="solid"/>
          </a:ln>
        </p:spPr>
      </p:sp>
      <p:pic>
        <p:nvPicPr>
          <p:cNvPr id="16" name="Image 0" descr="/home/user/itmo-uvb-trainer/case_korm/deck_img/cub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234440"/>
            <a:ext cx="4343400" cy="43434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223760" y="5760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4A4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Числовые ориентиры — рабочие гипотезы, а не подтверждённая смета.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566928" y="643737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Корм для людей · проект на стадии концепции · числовые ориентиры — рабочие гипотезы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1045952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029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DE7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СДЕЛКИ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77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32"/>
              </a:lnSpc>
              <a:buNone/>
            </a:pPr>
            <a:r>
              <a:rPr lang="en-US" sz="3600" b="1" spc="-40" kern="0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покупает каждый транш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16916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b="1" dirty="0">
                <a:solidFill>
                  <a:srgbClr val="DE7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435608" y="16916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b="1" dirty="0">
                <a:solidFill>
                  <a:srgbClr val="DE7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ДЕЛАЕМ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6007608" y="1691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b="1" dirty="0">
                <a:solidFill>
                  <a:srgbClr val="DE7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ДОЛЖНО ПОДТВЕРДИТЬСЯ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0030968" y="1691640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b="1" dirty="0">
                <a:solidFill>
                  <a:srgbClr val="DE7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2057400"/>
            <a:ext cx="11027664" cy="822960"/>
          </a:xfrm>
          <a:prstGeom prst="roundRect">
            <a:avLst>
              <a:gd name="adj" fmla="val 17778"/>
            </a:avLst>
          </a:prstGeom>
          <a:solidFill>
            <a:srgbClr val="FFD600"/>
          </a:solidFill>
          <a:ln w="12700">
            <a:solidFill>
              <a:srgbClr val="DCD4C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2276856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8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435608" y="2212848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Исследование спроса: лендинг, интервью, трафик, выбор формата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007608" y="2212848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Заявки и выбор формата, стоимость контакта, качество интереса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030968" y="2212848"/>
            <a:ext cx="1472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500 000 ₽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2990088"/>
            <a:ext cx="11027664" cy="8229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DCD4C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3209544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8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435608" y="3145536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рецептуры и образцов, работа с технологом и лабораторией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007608" y="314553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Рабочая рецептура и подтверждённые характеристики продукта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0030968" y="3145536"/>
            <a:ext cx="1472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уточняется</a:t>
            </a:r>
            <a:endParaRPr lang="en-US" sz="12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шага 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3922776"/>
            <a:ext cx="11027664" cy="8229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DCD4C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" y="4142232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8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435608" y="4078224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Пробная партия у контрактного производителя, упаковка, тестирование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007608" y="407822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Повторная оплаченная покупка и адекватная себестоимость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0030968" y="4078224"/>
            <a:ext cx="1472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уточняется</a:t>
            </a:r>
            <a:endParaRPr lang="en-US" sz="12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шага 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855464"/>
            <a:ext cx="11027664" cy="8229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DCD4C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5074920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8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435608" y="5010912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Первая коммерческая партия и выход в каналы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007608" y="501091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Жизнеспособная экономика единицы продукта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10030968" y="5010912"/>
            <a:ext cx="1472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уточняется</a:t>
            </a:r>
            <a:endParaRPr lang="en-US" sz="12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шага 3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58978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Критерий успеха всего проекта — повторная оплаченная покупка с жизнеспособной экономикой, а не разовый интерес к смешному названию.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643737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Корм для людей · проект на стадии концепции · числовые ориентиры — рабочие гипотезы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045952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029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DE7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772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32"/>
              </a:lnSpc>
              <a:buNone/>
            </a:pPr>
            <a:r>
              <a:rPr lang="en-US" sz="3600" b="1" spc="-40" kern="0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Шесть ролей, которые закрываем</a:t>
            </a:r>
            <a:endParaRPr lang="en-US" sz="3600" dirty="0"/>
          </a:p>
          <a:p>
            <a:pPr indent="0" marL="0">
              <a:lnSpc>
                <a:spcPts val="4032"/>
              </a:lnSpc>
              <a:buNone/>
            </a:pPr>
            <a:r>
              <a:rPr lang="en-US" sz="3600" b="1" spc="-40" kern="0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мере шагов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66928" y="2286000"/>
            <a:ext cx="3429000" cy="13716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D4C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4688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DE7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2491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 проекта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00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Стратегия, деньги, переговоры с производством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70248" y="2286000"/>
            <a:ext cx="3429000" cy="13716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D4C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24688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DE7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1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72491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Дизайн упаковки и контента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3200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Макеты, визуал, материалы для каналов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973568" y="2286000"/>
            <a:ext cx="3429000" cy="13716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D4C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0" y="24688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DE7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1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272491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Маркетинг и сообщество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3200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Трафик, исследование спроса, первые пользователи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3886200"/>
            <a:ext cx="3429000" cy="13716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D4C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0690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DE7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2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32511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 и рецептура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800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технологом и лабораторией, характеристики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70248" y="3886200"/>
            <a:ext cx="3429000" cy="13716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D4C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26280" y="40690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DE7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3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526280" y="432511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Продажи и работа с организациями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26280" y="4800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Офисы, коворкинги, пилотные поставки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973568" y="3886200"/>
            <a:ext cx="3429000" cy="13716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D4C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0" y="40690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DE7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3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432511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Операции и логистика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4800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Закупки, хранение, доставка, поддержка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57150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 ролей — план, а не штатное расписание: конкретных людей подбираем под шаг, на котором роль становится нужна. На первом шаге проект тянут руководитель, дизайн и маркетинг.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643737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Корм для людей · проект на стадии концепции · числовые ориентиры — рабочие гипотезы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045952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029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DE7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РИСКИ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77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32"/>
              </a:lnSpc>
              <a:buNone/>
            </a:pPr>
            <a:r>
              <a:rPr lang="en-US" sz="3600" b="1" spc="-40" kern="0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может пойти не так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94960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12700">
            <a:solidFill>
              <a:srgbClr val="DCD4C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9536" y="20116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Спрос не подтвердится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59536" y="2441448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шаг стоит 500 тыс. и заканчивается решением: идём дальше или закрываем. Дорогих обязательств до этого не берём.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99632" y="1783080"/>
            <a:ext cx="5394960" cy="1783080"/>
          </a:xfrm>
          <a:prstGeom prst="roundRect">
            <a:avLst>
              <a:gd name="adj" fmla="val 8205"/>
            </a:avLst>
          </a:prstGeom>
          <a:solidFill>
            <a:srgbClr val="EBE5D4"/>
          </a:solidFill>
          <a:ln w="12700">
            <a:solidFill>
              <a:srgbClr val="DCD4C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20116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Рецептура окажется сложнее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441448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идёт до партии, а не после. Испытания и документы — обязательное условие перехода к производству.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3749040"/>
            <a:ext cx="5394960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12700">
            <a:solidFill>
              <a:srgbClr val="DCD4C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9536" y="397764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Производство и себестоимость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59536" y="4407408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Контрактное изготовление без своего завода, несколько кандидатов в поставщики, себестоимость проверяется до запуска.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99632" y="3749040"/>
            <a:ext cx="5394960" cy="1783080"/>
          </a:xfrm>
          <a:prstGeom prst="roundRect">
            <a:avLst>
              <a:gd name="adj" fmla="val 8205"/>
            </a:avLst>
          </a:prstGeom>
          <a:solidFill>
            <a:srgbClr val="EBE5D4"/>
          </a:solidFill>
          <a:ln w="12700">
            <a:solidFill>
              <a:srgbClr val="DCD4C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397764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Название поймут неправильно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4407408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Имя провокационное, а продукт должен выглядеть аппетитно. Реакцию на название проверяем на первом же шаге.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5715000"/>
            <a:ext cx="11027664" cy="658368"/>
          </a:xfrm>
          <a:prstGeom prst="roundRect">
            <a:avLst>
              <a:gd name="adj" fmla="val 22222"/>
            </a:avLst>
          </a:prstGeom>
          <a:solidFill>
            <a:srgbClr val="FFD6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86968" y="58978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не создаём отзывов, партнёрств и результатов исследований, которых нет. Всё непроверенное названо непроверенным.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643737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Корм для людей · проект на стадии концепции · числовые ориентиры — рабочие гипотезы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045952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8229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СЛЕДУЮЩИЙ ШАГ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3444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Дайте нам проверить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спрос за 500 000 ₽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29184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6D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Вернёмся с ответом на один вопрос: какой формат выбирают люди и сколько стоит привести покупателя. После этого обсуждаем следующий транш — или расходимся без больших потерь.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4526280"/>
            <a:ext cx="6309360" cy="1371600"/>
          </a:xfrm>
          <a:prstGeom prst="roundRect">
            <a:avLst>
              <a:gd name="adj" fmla="val 10667"/>
            </a:avLst>
          </a:prstGeom>
          <a:solidFill>
            <a:srgbClr val="26262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47091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 лендинга уже собран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502920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8A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Пять форматов, сбор интереса покупателей и заявок от организаций.</a:t>
            </a:r>
            <a:endParaRPr lang="en-US" sz="11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8A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нему и будем измерять первый шаг.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205472" y="1170432"/>
            <a:ext cx="4425696" cy="4425696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12700">
            <a:solidFill>
              <a:srgbClr val="DCD4C0"/>
            </a:solidFill>
            <a:prstDash val="solid"/>
          </a:ln>
        </p:spPr>
      </p:sp>
      <p:pic>
        <p:nvPicPr>
          <p:cNvPr id="9" name="Image 0" descr="/home/user/itmo-uvb-trainer/case_korm/deck_img/snack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1234440"/>
            <a:ext cx="4297680" cy="42976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269480" y="57150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7C7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Концепция продукта. Характеристики и упаковка могут измениться.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643737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Корм для людей · проект на стадии концепции · числовые ориентиры — рабочие гипотезы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045952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Корм для людей — питч для инвестора</dc:title>
  <dc:subject>PptxGenJS Presentation</dc:subject>
  <dc:creator>Корм для людей</dc:creator>
  <cp:lastModifiedBy>Корм для людей</cp:lastModifiedBy>
  <cp:revision>1</cp:revision>
  <dcterms:created xsi:type="dcterms:W3CDTF">2026-09-12T12:29:06Z</dcterms:created>
  <dcterms:modified xsi:type="dcterms:W3CDTF">2026-09-12T12:29:06Z</dcterms:modified>
</cp:coreProperties>
</file>