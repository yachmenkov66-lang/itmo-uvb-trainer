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A3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сайт</c:v>
                  </c:pt>
                  <c:pt idx="1">
                    <c:v>LaModa</c:v>
                  </c:pt>
                  <c:pt idx="2">
                    <c:v>Блогеры</c:v>
                  </c:pt>
                  <c:pt idx="3">
                    <c:v>директ</c:v>
                  </c:pt>
                  <c:pt idx="4">
                    <c:v>ВК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5.64</c:v>
                </c:pt>
                <c:pt idx="1">
                  <c:v>3.01</c:v>
                </c:pt>
                <c:pt idx="2">
                  <c:v>2.45</c:v>
                </c:pt>
                <c:pt idx="3">
                  <c:v>2.17</c:v>
                </c:pt>
                <c:pt idx="4">
                  <c:v>1.23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Цена клиента (CAC)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сайт</c:v>
                  </c:pt>
                  <c:pt idx="1">
                    <c:v>директ</c:v>
                  </c:pt>
                  <c:pt idx="2">
                    <c:v>LaModa</c:v>
                  </c:pt>
                  <c:pt idx="3">
                    <c:v>Блогеры</c:v>
                  </c:pt>
                  <c:pt idx="4">
                    <c:v>ВК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385</c:v>
                </c:pt>
                <c:pt idx="1">
                  <c:v>1000</c:v>
                </c:pt>
                <c:pt idx="2">
                  <c:v>400</c:v>
                </c:pt>
                <c:pt idx="3">
                  <c:v>750</c:v>
                </c:pt>
                <c:pt idx="4">
                  <c:v>1429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Маржа с заказа</c:v>
                </c:pt>
              </c:strCache>
            </c:strRef>
          </c:tx>
          <c:spPr>
            <a:solidFill>
              <a:srgbClr val="D7D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сайт</c:v>
                  </c:pt>
                  <c:pt idx="1">
                    <c:v>директ</c:v>
                  </c:pt>
                  <c:pt idx="2">
                    <c:v>LaModa</c:v>
                  </c:pt>
                  <c:pt idx="3">
                    <c:v>Блогеры</c:v>
                  </c:pt>
                  <c:pt idx="4">
                    <c:v>ВК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2171</c:v>
                </c:pt>
                <c:pt idx="1">
                  <c:v>2171</c:v>
                </c:pt>
                <c:pt idx="2">
                  <c:v>1202</c:v>
                </c:pt>
                <c:pt idx="3">
                  <c:v>1839</c:v>
                </c:pt>
                <c:pt idx="4">
                  <c:v>1763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Calibri"/>
              </a:rPr>
              <a:t>Доля в бюджете — 54 000 ₽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Затраты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A31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095B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421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E5C8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1121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сайт</c:v>
                </c:pt>
                <c:pt idx="1">
                  <c:v>директ</c:v>
                </c:pt>
                <c:pt idx="2">
                  <c:v>LaModa</c:v>
                </c:pt>
                <c:pt idx="3">
                  <c:v>Блогеры</c:v>
                </c:pt>
                <c:pt idx="4">
                  <c:v>ВК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5000</c:v>
                </c:pt>
                <c:pt idx="1">
                  <c:v>12000</c:v>
                </c:pt>
                <c:pt idx="2">
                  <c:v>12000</c:v>
                </c:pt>
                <c:pt idx="3">
                  <c:v>15000</c:v>
                </c:pt>
                <c:pt idx="4">
                  <c:v>10000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4213D"/>
                </a:solidFill>
                <a:latin typeface="Calibri"/>
              </a:rPr>
              <a:t>Доля в прибыли — 139 457 ₽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Прибыль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A31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095B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421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E5C8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1121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сайт</c:v>
                </c:pt>
                <c:pt idx="1">
                  <c:v>директ</c:v>
                </c:pt>
                <c:pt idx="2">
                  <c:v>LaModa</c:v>
                </c:pt>
                <c:pt idx="3">
                  <c:v>Блогеры</c:v>
                </c:pt>
                <c:pt idx="4">
                  <c:v>ВК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28223</c:v>
                </c:pt>
                <c:pt idx="1">
                  <c:v>26052</c:v>
                </c:pt>
                <c:pt idx="2">
                  <c:v>36060</c:v>
                </c:pt>
                <c:pt idx="3">
                  <c:v>36780</c:v>
                </c:pt>
                <c:pt idx="4">
                  <c:v>12342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Маржа с заказа, ₽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CA31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сайт</c:v>
                  </c:pt>
                  <c:pt idx="1">
                    <c:v>директ</c:v>
                  </c:pt>
                  <c:pt idx="2">
                    <c:v>Блогеры</c:v>
                  </c:pt>
                  <c:pt idx="3">
                    <c:v>ВК</c:v>
                  </c:pt>
                  <c:pt idx="4">
                    <c:v>LaModa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2171</c:v>
                </c:pt>
                <c:pt idx="1">
                  <c:v>2171</c:v>
                </c:pt>
                <c:pt idx="2">
                  <c:v>1839</c:v>
                </c:pt>
                <c:pt idx="3">
                  <c:v>1763</c:v>
                </c:pt>
                <c:pt idx="4">
                  <c:v>1202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rgbClr val="D7DA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сайт</c:v>
                  </c:pt>
                  <c:pt idx="1">
                    <c:v>директ</c:v>
                  </c:pt>
                  <c:pt idx="2">
                    <c:v>LaModa</c:v>
                  </c:pt>
                  <c:pt idx="3">
                    <c:v>Блогеры</c:v>
                  </c:pt>
                  <c:pt idx="4">
                    <c:v>ВК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</c:v>
                </c:pt>
                <c:pt idx="1">
                  <c:v>12000</c:v>
                </c:pt>
                <c:pt idx="2">
                  <c:v>12000</c:v>
                </c:pt>
                <c:pt idx="3">
                  <c:v>15000</c:v>
                </c:pt>
                <c:pt idx="4">
                  <c:v>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Стало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сайт</c:v>
                  </c:pt>
                  <c:pt idx="1">
                    <c:v>директ</c:v>
                  </c:pt>
                  <c:pt idx="2">
                    <c:v>LaModa</c:v>
                  </c:pt>
                  <c:pt idx="3">
                    <c:v>Блогеры</c:v>
                  </c:pt>
                  <c:pt idx="4">
                    <c:v>ВК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11634</c:v>
                </c:pt>
                <c:pt idx="1">
                  <c:v>11736</c:v>
                </c:pt>
                <c:pt idx="2">
                  <c:v>16244</c:v>
                </c:pt>
                <c:pt idx="3">
                  <c:v>16569</c:v>
                </c:pt>
                <c:pt idx="4">
                  <c:v>5817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Продаём спортивные футболки с принтом. За месяц 82 продажи, 271 200 ₽ выручки. Каждый рубль рекламы вернул 2,58 рубля маржи. Дальше — откуда эти деньги и куда их двигать.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 ко всему разбору: маржа зависит от канала. Своя площадка — 2 171 ₽, маркетплейс — 1 202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Воронка одна для всех каналов, поэтому их можно честно сравнивать. ROAS по марже, не по выручке.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 в плюсе, все каналы окупаются. Но разброс между лучшим и худшим — в 4,6 раза.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Таблица-основа. Обратите внимание: LaModa даёт больше всех продаж и денег, ВК — меньше всех при втором по размеру бюджете.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Разброс в 4,6 раза. Сайт выигрывает не объёмом, а тем, что мы не покупаем клики.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 — главный тест канала: сравниваем не с нулём, а с маржой. На сайте привлечение съедает 18% маржи, у ВК — 81%.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защиты: у каналов разные роли. Эффективность и объём — не одно и то 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кольца об одном и том же месяце. Если доля в прибыли больше доли в бюджете — канал недофинансирован. У сайта разрыв вдвое в плюс, у ВК вдвое в минус.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спросят, почему не залить всё в LaModa: потому что каждая футболка там приносит вдвое меньше.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дешёвый резерв роста лежит не в рекламе, а в оплате корзины: брошенные корзины, рассрочка, бесплатная доставка от 3 000 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предложила раскладку, мы поправили её руками — это и есть управленческое решение, а не арифметика.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действия, каждое обосновано цифрой из таблицы.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тезис. Дальше —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280160"/>
            <a:ext cx="4937760" cy="4937760"/>
          </a:xfrm>
          <a:prstGeom prst="ellipse">
            <a:avLst/>
          </a:prstGeom>
          <a:solidFill>
            <a:srgbClr val="FCA311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КАНАЛОВ ПРОДАЖ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Спортивные футболки с принтом · пять каналов · срез за месяц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футболки продано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271 200 ₽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за месяц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4114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маржи на рубль рекламы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98932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2 · ИТМО, Управление высокотехнологичным бизнесом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Экономика одной футболки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взяты из бюджета проекта — Кейс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3 390 ₽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511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 рознице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620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чек. У блогеров 3 051 ₽ — промокод −10%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874520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851 ₽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51176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юнита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6207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Футболка 780 + принт 46 + упаковка 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529584" cy="178308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9328" y="18745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2 171 ₽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5511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с заказа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862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своём сайте — после эквайринга и доставки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1280160"/>
          </a:xfrm>
          <a:prstGeom prst="roundRect">
            <a:avLst>
              <a:gd name="adj" fmla="val 3571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069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LaModa маржа падает до 1 202 ₽ — площадка забирает 35% комиссии.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товар приносит вдвое разные деньги в зависимости от канала.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поэтому сравнивать каналы по выручке бессмысленно — сравниваем по марже.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считаем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воронка из четырёх шагов — одинаково для всех пяти каналов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1F2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93392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48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23774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1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1993392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048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5 560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007608" y="23774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1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993392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048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23774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89720" y="178308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1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9418320" y="1993392"/>
            <a:ext cx="384048" cy="38404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0" y="2048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029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метрики решения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перехода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затрачено / переходы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клиента (CAC)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затрачено / продажи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/ затрачено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ДРР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затрачено / выручка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1421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считаем по марже, а не по выручке: он показывает, сколько живых денег возвращает рубль рекламы.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месяца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96896" cy="1463040"/>
          </a:xfrm>
          <a:prstGeom prst="roundRect">
            <a:avLst>
              <a:gd name="adj" fmla="val 3750"/>
            </a:avLst>
          </a:prstGeom>
          <a:solidFill>
            <a:srgbClr val="F1F2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04672" y="182880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505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74136" y="1645920"/>
            <a:ext cx="2596896" cy="1463040"/>
          </a:xfrm>
          <a:prstGeom prst="roundRect">
            <a:avLst>
              <a:gd name="adj" fmla="val 3750"/>
            </a:avLst>
          </a:prstGeom>
          <a:solidFill>
            <a:srgbClr val="F1F2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30168" y="182880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271 200 ₽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630168" y="2505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645920"/>
            <a:ext cx="2596896" cy="1463040"/>
          </a:xfrm>
          <a:prstGeom prst="roundRect">
            <a:avLst>
              <a:gd name="adj" fmla="val 3750"/>
            </a:avLst>
          </a:prstGeom>
          <a:solidFill>
            <a:srgbClr val="F1F2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55664" y="182880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85 457 ₽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2505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денег в кассе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25128" y="1645920"/>
            <a:ext cx="2596896" cy="1463040"/>
          </a:xfrm>
          <a:prstGeom prst="roundRect">
            <a:avLst>
              <a:gd name="adj" fmla="val 3750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81160" y="182880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50545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по компании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1064240" cy="132588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5661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пять каналов окупают рекламу — убыточных нет.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не «кого выключить», а «куда переложить»: разброс эффективности десятикратный.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309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— 5,64 на рубль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Худший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53309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 — 1,23 на рубль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месяца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53309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54 000 ₽ на пять каналов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Каналы в цифрах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Затраты, отдача и цена клиента по каждому каналу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LaModa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Блогеры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Продажи, шт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Затрачено,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Прибыль с продаж,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28 223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36 780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139 457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Деньги в кассе,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23 223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14 052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21 780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85 457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клиента,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 — каналы ниже среднего по компании. Цена клиента у ВК (1 429 ₽) съедает 81% его маржи.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Возврат на рубль рекламы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= прибыль с продаж / затраты. Порог окупаемости — 1,0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7132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920240"/>
            <a:ext cx="274320" cy="2743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— 5,64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240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Органика почти бесплатна: платим 5 000 ₽ за SEO, а не за клики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55280" y="3246120"/>
            <a:ext cx="274320" cy="2743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66760" y="3218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 — 3,01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5661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Чужой трафик, но и чужая комиссия 35%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0" y="4572000"/>
            <a:ext cx="274320" cy="27432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66760" y="4544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 — 1,23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892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Держится только на малом бюджете: ДРР 42%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клиента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стоит привлечь покупателя — и сколько он приносит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783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маржи, которую съедает привлечение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514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12680" y="24780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081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12680" y="3044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6484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Блогеры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12680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2153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4178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782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012680" y="47457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ВК на привлечение уходит 81% маржи — с заказа остаётся 334 ₽. Это не канал, это тест на выживание.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Эффективность ≠ деньги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месяц, два разных рейтинга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эффективности (ROAS)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274320" cy="2743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682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0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— 5,64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712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 — 3,01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741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558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Блогеры — 2,45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877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58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 — 2,17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34340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361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 — 1,23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64592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1F2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деньгам в кассе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29400" y="2331720"/>
            <a:ext cx="274320" cy="2743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23682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350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 — 24 060 ₽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283464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28712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— 23 223 ₽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333756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29400" y="33741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3558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Блогеры — 21 780 ₽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384048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38770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3858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 — 14 052 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0" y="4343400"/>
            <a:ext cx="274320" cy="274320"/>
          </a:xfrm>
          <a:prstGeom prst="ellipse">
            <a:avLst/>
          </a:prstGeom>
          <a:solidFill>
            <a:srgbClr val="D7DA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29400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4361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 — 2 342 ₽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3571"/>
            </a:avLst>
          </a:prstGeom>
          <a:solidFill>
            <a:srgbClr val="14213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— самый эффективный, но он упёрся в потолок: 260 переходов, SEO деньгами не разгонишь.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 — самый денежный: берёт объём сразу, платим за это комиссией.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уходит бюджет и откуда приходит прибыль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даёт 20% прибыли на 9% бюджета. ВК — 9% прибыли на 19% бюджета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8745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492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5477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→ 20%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788920" y="53492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971800" y="5477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97180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→ 19%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029200" y="53492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212080" y="5477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→ 26%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269480" y="53492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452360" y="5477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Блогеры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→ 26%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509760" y="53492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692640" y="5477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692640" y="5788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→ 9%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Парадокс LaModa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воронка в таблице — и худшая маржа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828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лучший из всех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194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3,00% из показа в переход — втрое лучше сайта и директа. Человек уже внутри магазина одежды.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3200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— комиссия 35%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1 202 ₽ с заказа вместо 2 171 ₽. Мы платим не за трафик, а за чужое доверие: возврат, примерку, отзывы.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5212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LaModa наращиваем ради объёма и оборота, но прибыль на единицу растёт только на своём сайте.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теряется покупатель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воронка по всем каналам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9584" cy="1783080"/>
          </a:xfrm>
          <a:prstGeom prst="roundRect">
            <a:avLst>
              <a:gd name="adj" fmla="val 3077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→ переход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386 000 показов дали 5 560 переходов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529584" cy="1783080"/>
          </a:xfrm>
          <a:prstGeom prst="roundRect">
            <a:avLst>
              <a:gd name="adj" fmla="val 3077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828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9,14%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→ корзина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5 560 в корзину попали 508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645920"/>
            <a:ext cx="3529584" cy="1783080"/>
          </a:xfrm>
          <a:prstGeom prst="roundRect">
            <a:avLst>
              <a:gd name="adj" fmla="val 3077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9328" y="1828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16,14%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→ оплата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508 корзин оплачены 82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Узкое место по каналам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2062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1% из показов — мы в выдаче, но не в топе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902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59028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8% и оплата 12,5% — самая холодная аудитория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743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49743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узких мест нет, ограничение — комиссия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583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535838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12,5%: доверие блогеру ≠ доверие бренду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424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57424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2,86% в корзину — в 7 раз хуже сайта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80% собранных корзин не оплачиваются. +1 п.п. на этом шаге = +5 продаж в месяц без рубля рекламы.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бюджет следующего месяца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54 000 ₽ → 62 000 ₽. Доля канала меняется пропорционально его ROAS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+6 634 ₽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3500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— максимальный рост, потолок модели ×2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+4 244 ₽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6301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LaModa — берёт объём немедленно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−4 183 ₽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9103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 — сокращаем вдвое, в ноль не выключаем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Поправка к модели: сайту нельзя «выдать» 11 634 ₽ и получить трафик завтра — SEO даёт эффект через 2–3 месяца.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делаем в следующем месяце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39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Снимаем 4 200 ₽ с ВК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423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ДРР 42%, CAC 1 429 ₽ при марже 1 763 ₽. Любое масштабирование уведёт канал в минус.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039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Отдаём их в LaModa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423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канал, который конвертирует деньги в объём сразу, без лага.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879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наращиваем плавно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572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сайта поднимаем поэтапно: отдача приходит через 2–3 месяца, разом её не купить.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4114800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41879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Блогеров — на процент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572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Убираем фикс 15 000 ₽ вперёд: бартер или % с промокода. Риск уходит с нас.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бюджет не растёт сверх плановых +15%. Все движения — внутри, за счёт слабого канала.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FCA311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Деньги приносит LaModa.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Эффективность даёт сайт.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разные роли.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должен это учитывать: объём покупаем на площадке, маржу растим у себя.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85 457 ₽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кассе за месяц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маржи на рубль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убыточных каналов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каналов продаж</dc:title>
  <dc:subject>PptxGenJS Presentation</dc:subject>
  <dc:creator>Кейс 2</dc:creator>
  <cp:lastModifiedBy>Кейс 2</cp:lastModifiedBy>
  <cp:revision>1</cp:revision>
  <dcterms:created xsi:type="dcterms:W3CDTF">2026-09-17T17:17:22Z</dcterms:created>
  <dcterms:modified xsi:type="dcterms:W3CDTF">2026-09-17T17:17:22Z</dcterms:modified>
</cp:coreProperties>
</file>